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 prepared 22 October 2026. Test evidence was captured in the cloud; test counts are suite executions, not necessarily unique test cases across suites.</a:t>
            </a:r>
          </a:p>
          <a:p>
            <a:r>
              <a:t>Screenshot sources: cover-car.png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Screenshot sources: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PASS/FAIL/INCOMPLETE remain canonical backend values. Visible translations do not change the API contract.</a:t>
            </a:r>
          </a:p>
          <a:p>
            <a:r>
              <a:t>Screenshot sources: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Logical architecture. Full functional parity is not claimed: iOS supports BLE discovery only; physical transport integration still requires device testing.</a:t>
            </a:r>
          </a:p>
          <a:p>
            <a:r>
              <a:t>Screenshot sources: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Screenshot sources: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native Qt UI rendering using seeded demo data, captured after the privacy change. No physical adapter connected.</a:t>
            </a:r>
          </a:p>
          <a:p>
            <a:r>
              <a:t>Screenshot sources: desktop-dashboard.png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native Qt UI rendering using seeded demo data, captured after the privacy change. No physical adapter connected.</a:t>
            </a:r>
          </a:p>
          <a:p>
            <a:r>
              <a:t>Screenshot sources: desktop-analysis.png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native Qt UI rendering using seeded demo data, captured after the privacy change. No physical adapter connected.</a:t>
            </a:r>
          </a:p>
          <a:p>
            <a:r>
              <a:t>Screenshot sources: desktop-reports.png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Compose UI rendered by Robolectric native graphics, using seeded diagnostic data.</a:t>
            </a:r>
          </a:p>
          <a:p>
            <a:r>
              <a:t>Screenshot sources: android-home-hy.png, android-home-ru-light.png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Screenshot sources: android-analysis-recalculated.png, android-tests-hy.png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scores are not confirmed faults. The chart only shows valid numeric scores supplied by the server; missing scores are not invented.</a:t>
            </a:r>
          </a:p>
          <a:p>
            <a:r>
              <a:t>Screenshot sources: android-diagram-hy-dark.png, android-diagram-ru-light.png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Screenshot sources: android-adapter-refined.png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Screenshot sources: android-reports-private.png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source viewer displays the actual production helper used for Desktop report export; matching tests inspect nested data and original-object preservation.</a:t>
            </a:r>
          </a:p>
          <a:p>
            <a:r>
              <a:t>Screenshot sources: source-privacy.png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Counts reflect latest privacy-change runs. Android JVM coverage includes unexercised presentation classes. Supplemental native checks do not constitute connected-device coverage.</a:t>
            </a:r>
          </a:p>
          <a:p>
            <a:r>
              <a:t>Screenshot sources: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deliberately scoped metrics, not whole-repository coverage. No exclusions or lowered thresholds were introduced to make a gate pass.</a:t>
            </a:r>
          </a:p>
          <a:p>
            <a:r>
              <a:t>Screenshot sources: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completed test-run output viewed in a native Qt read-only log viewer. This is not represented as an interactive terminal screenshot.</a:t>
            </a:r>
          </a:p>
          <a:p>
            <a:r>
              <a:t>Screenshot sources: test-evidence.png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startup log comes from an actual local Uvicorn child process with isolated SQLite storage. The benchmark measures deterministic in-process reasoning, not LLM/network latency.</a:t>
            </a:r>
          </a:p>
          <a:p>
            <a:r>
              <a:t>Screenshot sources: backend-evidence.png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iOS screenshot is fabricated or included. Swift syntax parsing is not Swift type checking, compilation or runtime validation. Native test execution and numeric iOS coverage remain pending.</a:t>
            </a:r>
          </a:p>
          <a:p>
            <a:r>
              <a:t>Screenshot sources: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Dependency audit is not a guarantee of absence of all vulnerabilities or a mobile dependency audit. Android lint separately reports 0 errors and 21 warnings.</a:t>
            </a:r>
          </a:p>
          <a:p>
            <a:r>
              <a:t>Screenshot sources: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User-facing demo flow. Physical-device tests, PostgreSQL integration and Windows packaging are explicitly not certified by the cloud evidence.</a:t>
            </a:r>
          </a:p>
          <a:p>
            <a:r>
              <a:t>Screenshot sources: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deck with PowerPoint or LibreOffice. Text, diagrams, tables and metrics are editable; screenshots are embedded as evidence images. Layout-preview images are generated from the same layout specification, not by a native PowerPoint renderer.</a:t>
            </a:r>
          </a:p>
          <a:p>
            <a:r>
              <a:t>Screenshot sources: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NATIVE DIAGNOSTICS • DEMO &amp; QA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AI CAR SCANNER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1790700"/>
            <a:ext cx="762000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7FC"/>
                </a:solidFill>
                <a:latin typeface="DejaVu Sans"/>
              </a:defRPr>
            </a:pPr>
            <a:r>
              <a:t>Մեկ հարթակ՝ ախտորոշման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7FC"/>
                </a:solidFill>
                <a:latin typeface="DejaVu Sans"/>
              </a:defRPr>
            </a:pPr>
            <a:r>
              <a:t>ամբողջ ընթացքի համար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24200"/>
            <a:ext cx="7620000" cy="838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A8BED2"/>
                </a:solidFill>
                <a:latin typeface="DejaVu Sans"/>
              </a:defRPr>
            </a:pPr>
            <a:r>
              <a:t>Desktop • Android • iOS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A8BED2"/>
                </a:solidFill>
                <a:latin typeface="DejaVu Sans"/>
              </a:defRPr>
            </a:pPr>
            <a:r>
              <a:t>UI, կոդ, թեստեր և իրական screenshot-ներ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343400"/>
            <a:ext cx="11125200" cy="8763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6280" y="4457700"/>
            <a:ext cx="7620000" cy="266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4C7EE"/>
                </a:solidFill>
                <a:latin typeface="DejaVu Sans"/>
              </a:defRPr>
            </a:pPr>
            <a:r>
              <a:t>Այս թողարկման առանցքը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80" y="4815840"/>
            <a:ext cx="10591800" cy="342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7FC"/>
                </a:solidFill>
                <a:latin typeface="DejaVu Sans"/>
              </a:defRPr>
            </a:pPr>
            <a:r>
              <a:t>Session ID-ն ներքին է․ օգտատերը տեսնում է մեքենան և ախտորոշումը։</a:t>
            </a:r>
          </a:p>
        </p:txBody>
      </p:sp>
      <p:pic>
        <p:nvPicPr>
          <p:cNvPr id="10" name="Picture 9" descr="cover-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425" y="2590800"/>
            <a:ext cx="2343150" cy="1562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715000"/>
            <a:ext cx="10668000" cy="342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4C7EE"/>
                </a:solidFill>
                <a:latin typeface="DejaVu Sans"/>
              </a:defRPr>
            </a:pPr>
            <a:r>
              <a:t>22 ՀՈԿՏԵՄԲԵՐԻ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Թողարկման ամփոփում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7680" y="1737360"/>
            <a:ext cx="3543300" cy="13716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0560" y="1889760"/>
            <a:ext cx="317754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4D4A0"/>
                </a:solidFill>
                <a:latin typeface="DejaVu Sans"/>
              </a:defRPr>
            </a:pPr>
            <a:r>
              <a:t>341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2499360"/>
            <a:ext cx="3177540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7FC"/>
                </a:solidFill>
                <a:latin typeface="DejaVu Sans"/>
              </a:defRPr>
            </a:pPr>
            <a:r>
              <a:t>Desktop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" y="2827020"/>
            <a:ext cx="3177540" cy="2057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Qt logic / E2E / negative /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2440" y="1737360"/>
            <a:ext cx="3543300" cy="13716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5320" y="1889760"/>
            <a:ext cx="317754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4D4A0"/>
                </a:solidFill>
                <a:latin typeface="DejaVu Sans"/>
              </a:defRPr>
            </a:pPr>
            <a:r>
              <a:t>89 + 14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5320" y="2499360"/>
            <a:ext cx="3177540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7FC"/>
                </a:solidFill>
                <a:latin typeface="DejaVu Sans"/>
              </a:defRPr>
            </a:pPr>
            <a:r>
              <a:t>Android unit + native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5320" y="2827020"/>
            <a:ext cx="3177540" cy="2057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103 executed checks; 0 failures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1737360"/>
            <a:ext cx="3611880" cy="13716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0080" y="1889760"/>
            <a:ext cx="324612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4C7EE"/>
                </a:solidFill>
                <a:latin typeface="DejaVu Sans"/>
              </a:defRPr>
            </a:pPr>
            <a:r>
              <a:t>541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0080" y="2499360"/>
            <a:ext cx="3246120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7FC"/>
                </a:solidFill>
                <a:latin typeface="DejaVu Sans"/>
              </a:defRPr>
            </a:pPr>
            <a:r>
              <a:t>Backend /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827020"/>
            <a:ext cx="3246120" cy="2057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1 PostgreSQL integration skipped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58140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581400"/>
            <a:ext cx="10591800" cy="3817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1F7FC"/>
                </a:solidFill>
                <a:latin typeface="DejaVu Sans"/>
              </a:defRPr>
            </a:pPr>
            <a:r>
              <a:t>Session ID-ն հեռացված է տեսանելի էջերից և օգտատիրոջ export-ներից։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153662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4153662"/>
            <a:ext cx="10591800" cy="7178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1F7FC"/>
                </a:solidFill>
                <a:latin typeface="DejaVu Sans"/>
              </a:defRPr>
            </a:pPr>
            <a:r>
              <a:t>Վերլուծությունն ու դիագրամները թարմացվում են թեստի արդյունքից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1F7FC"/>
                </a:solidFill>
                <a:latin typeface="DejaVu Sans"/>
              </a:defRPr>
            </a:pPr>
            <a:r>
              <a:t>հետո։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061966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5061966"/>
            <a:ext cx="10591800" cy="7178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1F7FC"/>
                </a:solidFill>
                <a:latin typeface="DejaVu Sans"/>
              </a:defRPr>
            </a:pPr>
            <a:r>
              <a:t>iOS-ը ստուգված է միայն շարահյուսական մակարդակով․ Xcode execution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1F7FC"/>
                </a:solidFill>
                <a:latin typeface="DejaVu Sans"/>
              </a:defRPr>
            </a:pPr>
            <a:r>
              <a:t>չկա։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6073140"/>
            <a:ext cx="111252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Թվերը չափված են թեստերի log/JUnit/coverage հաշվետվություններից։ Suite-երի միջև կարող են կրկնվել նույն դեպքերը։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Օգտատիրոջ ախտորոշման ուղին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7680" y="1714500"/>
            <a:ext cx="3581400" cy="17145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320" y="1836420"/>
            <a:ext cx="3124200" cy="4952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4C7EE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" y="2415540"/>
            <a:ext cx="32385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1F7FC"/>
                </a:solidFill>
                <a:latin typeface="DejaVu Sans"/>
              </a:defRPr>
            </a:pPr>
            <a:r>
              <a:t>Մեքենայի ընտրություն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" y="2956560"/>
            <a:ext cx="3238500" cy="381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8BED2"/>
                </a:solidFill>
                <a:latin typeface="DejaVu Sans"/>
              </a:defRPr>
            </a:pPr>
            <a:r>
              <a:t>Make / model / chassis /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14500"/>
            <a:ext cx="3581400" cy="17145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5320" y="1836420"/>
            <a:ext cx="3124200" cy="4952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4C7EE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5320" y="2415540"/>
            <a:ext cx="32385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1F7FC"/>
                </a:solidFill>
                <a:latin typeface="DejaVu Sans"/>
              </a:defRPr>
            </a:pPr>
            <a:r>
              <a:t>Ախտանշաններ և DTC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5320" y="2956560"/>
            <a:ext cx="3238500" cy="381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ED2"/>
                </a:solidFill>
                <a:latin typeface="DejaVu Sans"/>
              </a:defRPr>
            </a:pPr>
            <a:r>
              <a:t>Վարորդի դիտարկում + սխալի կոդ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1714500"/>
            <a:ext cx="3581400" cy="17145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836420"/>
            <a:ext cx="3124200" cy="4952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4C7EE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415540"/>
            <a:ext cx="32385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1F7FC"/>
                </a:solidFill>
                <a:latin typeface="DejaVu Sans"/>
              </a:defRPr>
            </a:pPr>
            <a:r>
              <a:t>Վերլուծություն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956560"/>
            <a:ext cx="3238500" cy="381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ED2"/>
                </a:solidFill>
                <a:latin typeface="DejaVu Sans"/>
              </a:defRPr>
            </a:pPr>
            <a:r>
              <a:t>Վարկածներ և հաջորդ ստուգումներ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7680" y="3733799"/>
            <a:ext cx="3581400" cy="17145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20" y="3855720"/>
            <a:ext cx="3124200" cy="4952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4C7EE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" y="4434840"/>
            <a:ext cx="32385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1F7FC"/>
                </a:solidFill>
                <a:latin typeface="DejaVu Sans"/>
              </a:defRPr>
            </a:pPr>
            <a:r>
              <a:t>Թեստի կատարում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" y="4975860"/>
            <a:ext cx="3238500" cy="381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8BED2"/>
                </a:solidFill>
                <a:latin typeface="DejaVu Sans"/>
              </a:defRPr>
            </a:pPr>
            <a:r>
              <a:t>Նորմալ / Խնդիր կա / Անավարտ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733799"/>
            <a:ext cx="3581400" cy="17145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5320" y="3855720"/>
            <a:ext cx="3124200" cy="4952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4C7EE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5320" y="4434840"/>
            <a:ext cx="32385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1F7FC"/>
                </a:solidFill>
                <a:latin typeface="DejaVu Sans"/>
              </a:defRPr>
            </a:pPr>
            <a:r>
              <a:t>Վերահաշվարկ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5320" y="4975860"/>
            <a:ext cx="3238500" cy="381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ED2"/>
                </a:solidFill>
                <a:latin typeface="DejaVu Sans"/>
              </a:defRPr>
            </a:pPr>
            <a:r>
              <a:t>Արդյունքը փոխում է ապացույցները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7680" y="3733799"/>
            <a:ext cx="3581400" cy="17145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855720"/>
            <a:ext cx="3124200" cy="4952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4C7EE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434840"/>
            <a:ext cx="32385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1F7FC"/>
                </a:solidFill>
                <a:latin typeface="DejaVu Sans"/>
              </a:defRPr>
            </a:pPr>
            <a:r>
              <a:t>Պատմություն /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975860"/>
            <a:ext cx="3238500" cy="381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8BED2"/>
                </a:solidFill>
                <a:latin typeface="DejaVu Sans"/>
              </a:defRPr>
            </a:pPr>
            <a:r>
              <a:t>Բովանդակություն՝ առանց Session ID-ի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Ճարտարապետություն և տվյալների հոսք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7680" y="1737360"/>
            <a:ext cx="3550920" cy="11049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320" y="1889760"/>
            <a:ext cx="32004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4C7EE"/>
                </a:solidFill>
                <a:latin typeface="DejaVu Sans"/>
              </a:defRPr>
            </a:pPr>
            <a:r>
              <a:t>Desktop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" y="2377440"/>
            <a:ext cx="3200400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7FC"/>
                </a:solidFill>
                <a:latin typeface="DejaVu Sans"/>
              </a:defRPr>
            </a:pPr>
            <a:r>
              <a:t>PySide6 /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2920" y="1737360"/>
            <a:ext cx="3550920" cy="11049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889760"/>
            <a:ext cx="32004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4C7EE"/>
                </a:solidFill>
                <a:latin typeface="DejaVu Sans"/>
              </a:defRPr>
            </a:pPr>
            <a:r>
              <a:t>Android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200400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7FC"/>
                </a:solidFill>
                <a:latin typeface="DejaVu Sans"/>
              </a:defRPr>
            </a:pPr>
            <a:r>
              <a:t>Kotlin / Jetpack Compose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550920" cy="11049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800" y="1889760"/>
            <a:ext cx="32004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4C7EE"/>
                </a:solidFill>
                <a:latin typeface="DejaVu Sans"/>
              </a:defRPr>
            </a:pPr>
            <a:r>
              <a:t>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800" y="2377440"/>
            <a:ext cx="3200400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7FC"/>
                </a:solidFill>
                <a:latin typeface="DejaVu Sans"/>
              </a:defRPr>
            </a:pPr>
            <a:r>
              <a:t>SwiftUI / Swift 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063240"/>
            <a:ext cx="11049000" cy="342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A8BED2"/>
                </a:solidFill>
                <a:latin typeface="DejaVu Sans"/>
              </a:defRPr>
            </a:pPr>
            <a:r>
              <a:t>↓ HTTPS / JSON API 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7680" y="3596640"/>
            <a:ext cx="11201400" cy="800100"/>
          </a:xfrm>
          <a:prstGeom prst="roundRect">
            <a:avLst>
              <a:gd name="adj" fmla="val 12000"/>
            </a:avLst>
          </a:prstGeom>
          <a:solidFill>
            <a:srgbClr val="2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02380"/>
            <a:ext cx="10668000" cy="441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1F7FC"/>
                </a:solidFill>
                <a:latin typeface="DejaVu Sans"/>
              </a:defRPr>
            </a:pPr>
            <a:r>
              <a:t>FastAPI • Diagnostic session • Localization • Test result recording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7680" y="4770120"/>
            <a:ext cx="5455920" cy="9525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560" y="4922520"/>
            <a:ext cx="50292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Reasoning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560" y="5318760"/>
            <a:ext cx="49530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1F7FC"/>
                </a:solidFill>
                <a:latin typeface="DejaVu Sans"/>
              </a:defRPr>
            </a:pPr>
            <a:r>
              <a:t>Ապացույցներ → վարկածներ → առաջարկվող թեստեր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300" y="4770120"/>
            <a:ext cx="5478780" cy="9525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922520"/>
            <a:ext cx="49530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Persistence / device boundaries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18760"/>
            <a:ext cx="49530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7FC"/>
                </a:solidFill>
                <a:latin typeface="DejaVu Sans"/>
              </a:defRPr>
            </a:pPr>
            <a:r>
              <a:t>SQLite / PostgreSQL • OBD adapters • telemetry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Session ID․ տեսանելիությունից դեպի ներքին տվյալ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7680" y="1752600"/>
            <a:ext cx="5410200" cy="32766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0560" y="1905000"/>
            <a:ext cx="5029200" cy="342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4C7EE"/>
                </a:solidFill>
                <a:latin typeface="DejaVu Sans"/>
              </a:defRPr>
            </a:pPr>
            <a:r>
              <a:t>ՕԳՏԱՏԵՐԸ ՏԵՍՆՈՒՄ 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247650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60" y="2476500"/>
            <a:ext cx="4762500" cy="6537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1F7FC"/>
                </a:solidFill>
                <a:latin typeface="DejaVu Sans"/>
              </a:defRPr>
            </a:pPr>
            <a:r>
              <a:t>Մեքենայի անունը և ախտորոշման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1F7FC"/>
                </a:solidFill>
                <a:latin typeface="DejaVu Sans"/>
              </a:defRPr>
            </a:pPr>
            <a:r>
              <a:t>վիճակը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" y="3320796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60" y="3320796"/>
            <a:ext cx="4762500" cy="6537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1F7FC"/>
                </a:solidFill>
                <a:latin typeface="DejaVu Sans"/>
              </a:defRPr>
            </a:pPr>
            <a:r>
              <a:t>DTC-ները, վարկածները և թեստերի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1F7FC"/>
                </a:solidFill>
                <a:latin typeface="DejaVu Sans"/>
              </a:defRPr>
            </a:pPr>
            <a:r>
              <a:t>արդյունքները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" y="4165092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60" y="4165092"/>
            <a:ext cx="4762500" cy="6537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1F7FC"/>
                </a:solidFill>
                <a:latin typeface="DejaVu Sans"/>
              </a:defRPr>
            </a:pPr>
            <a:r>
              <a:t>Պատմություն և report՝ առանց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1F7FC"/>
                </a:solidFill>
                <a:latin typeface="DejaVu Sans"/>
              </a:defRPr>
            </a:pPr>
            <a:r>
              <a:t>ներքին ID-ի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52600"/>
            <a:ext cx="5516880" cy="32766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5560" y="1905000"/>
            <a:ext cx="5029200" cy="342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4D4A0"/>
                </a:solidFill>
                <a:latin typeface="DejaVu Sans"/>
              </a:defRPr>
            </a:pPr>
            <a:r>
              <a:t>ՀԱՄԱԿԱՐԳԸ ՊԱՀՊԱՆՈՒՄ 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5560" y="247650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4160" y="2476500"/>
            <a:ext cx="4724400" cy="6537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1F7FC"/>
                </a:solidFill>
                <a:latin typeface="DejaVu Sans"/>
              </a:defRPr>
            </a:pPr>
            <a:r>
              <a:t>Նույն session_id-ն՝ API և persistence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1F7FC"/>
                </a:solidFill>
                <a:latin typeface="DejaVu Sans"/>
              </a:defRPr>
            </a:pPr>
            <a:r>
              <a:t>աշխատանքի համար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5560" y="3320796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4160" y="3320796"/>
            <a:ext cx="4724400" cy="6537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1F7FC"/>
                </a:solidFill>
                <a:latin typeface="DejaVu Sans"/>
              </a:defRPr>
            </a:pPr>
            <a:r>
              <a:t>Պատմությունից սեսիայի ճիշտ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1F7FC"/>
                </a:solidFill>
                <a:latin typeface="DejaVu Sans"/>
              </a:defRPr>
            </a:pPr>
            <a:r>
              <a:t>վերաբացում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5560" y="4165092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4160" y="4165092"/>
            <a:ext cx="4724400" cy="6537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1F7FC"/>
                </a:solidFill>
                <a:latin typeface="DejaVu Sans"/>
              </a:defRPr>
            </a:pPr>
            <a:r>
              <a:t>Export snapshot՝ առանց բնօրինակը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1F7FC"/>
                </a:solidFill>
                <a:latin typeface="DejaVu Sans"/>
              </a:defRPr>
            </a:pPr>
            <a:r>
              <a:t>փոփոխելու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471160"/>
            <a:ext cx="10972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1F7FC"/>
                </a:solidFill>
                <a:latin typeface="DejaVu Sans"/>
              </a:defRPr>
            </a:pPr>
            <a:r>
              <a:t>Կիրառված է Desktop, Android և iOS միջերեսներում։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6073140"/>
            <a:ext cx="111252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Սա UI/export privacy փոփոխություն է․ սերվերի routing-ն ու տվյալների պահպանումը շարունակում են աշխատել ներքին ID-ներով։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Desktop • dashboard-ի իրական տեսք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8458200" cy="4190999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ktop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510" y="1691640"/>
            <a:ext cx="6273579" cy="4008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0" y="175260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1752600"/>
            <a:ext cx="2286000" cy="557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Մեքենայի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թափանցիկ նկար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493264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2493264"/>
            <a:ext cx="2286000" cy="557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Ախտորոշման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հաշվիչներ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233928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3233928"/>
            <a:ext cx="2286000" cy="3017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Արագ անցումներ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71856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718560"/>
            <a:ext cx="2286000" cy="557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Live Data-ի դատարկ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վիճակ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073140"/>
            <a:ext cx="111252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Actual Qt capture • seeded demo session • telemetry not connected • no rendered mockup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Desktop • ախտորոշման աշխատանքային էջ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8458200" cy="4190999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ktop-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510" y="1691640"/>
            <a:ext cx="6273579" cy="4008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0" y="175260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1752600"/>
            <a:ext cx="2286000" cy="557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Ախտանշանների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մուտք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493264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2493264"/>
            <a:ext cx="2286000" cy="3017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DTC-ի ավելացում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977896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977896"/>
            <a:ext cx="2286000" cy="557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Վարկածներ և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տվյալներ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71856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718560"/>
            <a:ext cx="2286000" cy="557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Header-ում Session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ID չկա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073140"/>
            <a:ext cx="111252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Actual Qt capture • demo diagnostic dataset • screenshot captured after privacy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Desktop • պատմություն և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8458200" cy="4190999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ktop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510" y="1691640"/>
            <a:ext cx="6273579" cy="4008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0" y="175260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1752600"/>
            <a:ext cx="2286000" cy="3017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Մեքենա + վիճակ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237232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2237232"/>
            <a:ext cx="2286000" cy="557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ID-ն ցուցակում չի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երևում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977896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977896"/>
            <a:ext cx="2286000" cy="557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Ներքին ID-ով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վերաբացում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71856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718560"/>
            <a:ext cx="2286000" cy="557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PDF / HTML / JSON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073140"/>
            <a:ext cx="111252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Actual Qt capture • export tests verify hidden Session ID while retaining P0302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Android • մուգ և բաց թեմաներ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droid-home-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81" y="1600200"/>
            <a:ext cx="1955716" cy="4343400"/>
          </a:xfrm>
          <a:prstGeom prst="rect">
            <a:avLst/>
          </a:prstGeom>
        </p:spPr>
      </p:pic>
      <p:pic>
        <p:nvPicPr>
          <p:cNvPr id="6" name="Picture 5" descr="android-home-ru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741" y="1600200"/>
            <a:ext cx="1955716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200" y="194310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943100"/>
            <a:ext cx="2971800" cy="621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7FC"/>
                </a:solidFill>
                <a:latin typeface="DejaVu Sans"/>
              </a:defRPr>
            </a:pPr>
            <a:r>
              <a:t>Իրական Compose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7FC"/>
                </a:solidFill>
                <a:latin typeface="DejaVu Sans"/>
              </a:defRPr>
            </a:pPr>
            <a:r>
              <a:t>rendering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763012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763012"/>
            <a:ext cx="2971800" cy="3337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7FC"/>
                </a:solidFill>
                <a:latin typeface="DejaVu Sans"/>
              </a:defRPr>
            </a:pPr>
            <a:r>
              <a:t>Հայերեն և ռուսերեն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3294888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294888"/>
            <a:ext cx="2971800" cy="621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7FC"/>
                </a:solidFill>
                <a:latin typeface="DejaVu Sans"/>
              </a:defRPr>
            </a:pPr>
            <a:r>
              <a:t>Նույն տվյալները՝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7FC"/>
                </a:solidFill>
                <a:latin typeface="DejaVu Sans"/>
              </a:defRPr>
            </a:pPr>
            <a:r>
              <a:t>տարբեր թեմաներով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411480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114800"/>
            <a:ext cx="2971800" cy="621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7FC"/>
                </a:solidFill>
                <a:latin typeface="DejaVu Sans"/>
              </a:defRPr>
            </a:pPr>
            <a:r>
              <a:t>Cloud native-graphics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7FC"/>
                </a:solidFill>
                <a:latin typeface="DejaVu Sans"/>
              </a:defRPr>
            </a:pPr>
            <a:r>
              <a:t>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073140"/>
            <a:ext cx="111252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API 35 / Robolectric • fixture data • սա ֆիզիկական հեռախոսից կամ emulator-ից նկար չէ։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Android • վերլուծություն և թեստերի արդյունքներ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droid-analysis-recalculated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659" y="1638300"/>
            <a:ext cx="3578961" cy="4343400"/>
          </a:xfrm>
          <a:prstGeom prst="rect">
            <a:avLst/>
          </a:prstGeom>
        </p:spPr>
      </p:pic>
      <p:pic>
        <p:nvPicPr>
          <p:cNvPr id="6" name="Picture 5" descr="android-tests-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41" y="1638300"/>
            <a:ext cx="1955716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1999" y="179070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0600" y="1790700"/>
            <a:ext cx="2971800" cy="557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Թեստերը հասանելի են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Analysis-ի մեջ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1999" y="2538983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0600" y="2538983"/>
            <a:ext cx="2971800" cy="3017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PASS / FAIL / 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1999" y="3031235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0600" y="3031235"/>
            <a:ext cx="2971800" cy="8138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Սերվերի պատասխանից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հետո՝ թարմացված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վարկածներ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1999" y="4035551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0600" y="4035551"/>
            <a:ext cx="2971800" cy="557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Կրկնակի analyze հարցում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չի ուղարկվում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073140"/>
            <a:ext cx="111252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Actual Compose captures • analysis screenshot is a UI excerpt from a controlled result-update test.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Դիագրամներ • գնահատականներ և արդյունքներ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droid-diagram-hy-dar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25" y="1600200"/>
            <a:ext cx="4771948" cy="4343400"/>
          </a:xfrm>
          <a:prstGeom prst="rect">
            <a:avLst/>
          </a:prstGeom>
        </p:spPr>
      </p:pic>
      <p:pic>
        <p:nvPicPr>
          <p:cNvPr id="6" name="Picture 5" descr="android-diagram-ru-light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006" y="1600200"/>
            <a:ext cx="4364587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073140"/>
            <a:ext cx="111252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Actual Compose UI excerpts • վերջին արդյունքը փոխարինում է նույն թեստի նախորդ արդյունքին․ կրկնակի հաշվարկ չկա։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OBD adapter • ավելի մշակված պատկերակ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droid-adapter-refined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82" y="1752600"/>
            <a:ext cx="5822234" cy="3886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67599" y="194310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6199" y="1943100"/>
            <a:ext cx="3733799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Կլորացված միակցիչի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կորպուս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7599" y="285750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6199" y="2857500"/>
            <a:ext cx="373379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16 կոնտակտ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7599" y="345186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6199" y="3451860"/>
            <a:ext cx="3733799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Մեղմ կապույտ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լուսավորություն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7599" y="436626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6199" y="4366260"/>
            <a:ext cx="373379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Գույնը՝ ըստ կապի վիճակի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073140"/>
            <a:ext cx="111252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Actual Compose component capture • ցուցադրված է Bluetooth / ELM327 demo label, ոչ hardware connection-ի ապացույց։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Mobile report • ներքին ID-ն թաքցված է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droid-reports-privat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38568"/>
            <a:ext cx="4648200" cy="36666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91200" y="1866899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19800" y="1866899"/>
            <a:ext cx="53721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Մեքենայի անունն ու վիճակը մնում են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տեսանելի։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0" y="275844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9800" y="2758440"/>
            <a:ext cx="53721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JSON snapshot-ից session_id դաշտերը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հեռացվում են։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1200" y="364998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800" y="3649980"/>
            <a:ext cx="53721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Unit/UI թեստերը հաստատում են, որ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ID-ն չի երևում։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1200" y="454152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9800" y="4541520"/>
            <a:ext cx="53721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Ներքին օբյեկտի session_id-ն չի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փոփոխվում։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073140"/>
            <a:ext cx="111252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Actual Compose report component • privacy assertion passed; shared payload tested separately.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Կոդ • export-ի անվտանգ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urce-priv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78" y="1638300"/>
            <a:ext cx="7636042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0" y="1866899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0" y="1866899"/>
            <a:ext cx="2590800" cy="3177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7FC"/>
                </a:solidFill>
                <a:latin typeface="DejaVu Sans"/>
              </a:defRPr>
            </a:pPr>
            <a:r>
              <a:t>Recursive filtering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0" y="2375153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0" y="2375153"/>
            <a:ext cx="2590800" cy="5897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7FC"/>
                </a:solidFill>
                <a:latin typeface="DejaVu Sans"/>
              </a:defRPr>
            </a:pPr>
            <a:r>
              <a:t>Բնօրինակը չի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7FC"/>
                </a:solidFill>
                <a:latin typeface="DejaVu Sans"/>
              </a:defRPr>
            </a:pPr>
            <a:r>
              <a:t>փոփոխվում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0" y="3155442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600" y="3155442"/>
            <a:ext cx="2590800" cy="5897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7FC"/>
                </a:solidFill>
                <a:latin typeface="DejaVu Sans"/>
              </a:defRPr>
            </a:pPr>
            <a:r>
              <a:t>Նույն սկզբունքը՝ Kotlin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7FC"/>
                </a:solidFill>
                <a:latin typeface="DejaVu Sans"/>
              </a:defRPr>
            </a:pPr>
            <a:r>
              <a:t>և Swift-ում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0" y="3935729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600" y="3935729"/>
            <a:ext cx="2590800" cy="5897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7FC"/>
                </a:solidFill>
                <a:latin typeface="DejaVu Sans"/>
              </a:defRPr>
            </a:pPr>
            <a:r>
              <a:t>API payload-ն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7FC"/>
                </a:solidFill>
                <a:latin typeface="DejaVu Sans"/>
              </a:defRPr>
            </a:pPr>
            <a:r>
              <a:t>անփոփոխ 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073140"/>
            <a:ext cx="111252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Իրական source-ի Qt viewer capture • apps/desktop/models.py • սա IDE-ի screenshot չի ներկայացվում։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Թեստավորում • ամբողջական regression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7680" y="1714500"/>
            <a:ext cx="11201400" cy="7620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320" y="1920240"/>
            <a:ext cx="34290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1F7FC"/>
                </a:solidFill>
                <a:latin typeface="DejaVu Sans"/>
              </a:defRPr>
            </a:pPr>
            <a:r>
              <a:t>Backend /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0999" y="1920240"/>
            <a:ext cx="2971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D4A0"/>
                </a:solidFill>
                <a:latin typeface="DejaVu Sans"/>
              </a:defRPr>
            </a:pPr>
            <a:r>
              <a:t>541 PASS + 1 SKIP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935480"/>
            <a:ext cx="4114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8BED2"/>
                </a:solidFill>
                <a:latin typeface="DejaVu Sans"/>
              </a:defRPr>
            </a:pPr>
            <a:r>
              <a:t>97.42% 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" y="2583180"/>
            <a:ext cx="11201400" cy="7620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20" y="2788920"/>
            <a:ext cx="34290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1F7FC"/>
                </a:solidFill>
                <a:latin typeface="DejaVu Sans"/>
              </a:defRPr>
            </a:pPr>
            <a:r>
              <a:t>Desktop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999" y="2788920"/>
            <a:ext cx="2971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D4A0"/>
                </a:solidFill>
                <a:latin typeface="DejaVu Sans"/>
              </a:defRPr>
            </a:pPr>
            <a:r>
              <a:t>341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804160"/>
            <a:ext cx="4114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8BED2"/>
                </a:solidFill>
                <a:latin typeface="DejaVu Sans"/>
              </a:defRPr>
            </a:pPr>
            <a:r>
              <a:t>90.14% source / 91.09% 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7680" y="3451860"/>
            <a:ext cx="11201400" cy="7620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20" y="3657600"/>
            <a:ext cx="34290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1F7FC"/>
                </a:solidFill>
                <a:latin typeface="DejaVu Sans"/>
              </a:defRPr>
            </a:pPr>
            <a:r>
              <a:t>Android JVM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99" y="36576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D4A0"/>
                </a:solidFill>
                <a:latin typeface="DejaVu Sans"/>
              </a:defRPr>
            </a:pPr>
            <a:r>
              <a:t>89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672840"/>
            <a:ext cx="4114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8BED2"/>
                </a:solidFill>
                <a:latin typeface="DejaVu Sans"/>
              </a:defRPr>
            </a:pPr>
            <a:r>
              <a:t>33.83% JVM line coverage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7680" y="4320540"/>
            <a:ext cx="11201400" cy="7620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20" y="4526280"/>
            <a:ext cx="34290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1F7FC"/>
                </a:solidFill>
                <a:latin typeface="DejaVu Sans"/>
              </a:defRPr>
            </a:pPr>
            <a:r>
              <a:t>Android native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0999" y="4526280"/>
            <a:ext cx="2971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D4A0"/>
                </a:solidFill>
                <a:latin typeface="DejaVu Sans"/>
              </a:defRPr>
            </a:pPr>
            <a:r>
              <a:t>14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541520"/>
            <a:ext cx="4114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8BED2"/>
                </a:solidFill>
                <a:latin typeface="DejaVu Sans"/>
              </a:defRPr>
            </a:pPr>
            <a:r>
              <a:t>Supplemental cloud UI checks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7680" y="5189220"/>
            <a:ext cx="11201400" cy="7620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" y="5394960"/>
            <a:ext cx="34290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1F7FC"/>
                </a:solidFill>
                <a:latin typeface="DejaVu Sans"/>
              </a:defRPr>
            </a:pPr>
            <a:r>
              <a:t>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0999" y="5394960"/>
            <a:ext cx="2971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BC15B"/>
                </a:solidFill>
                <a:latin typeface="DejaVu Sans"/>
              </a:defRPr>
            </a:pPr>
            <a:r>
              <a:t>29 declared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410200"/>
            <a:ext cx="4114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8BED2"/>
                </a:solidFill>
                <a:latin typeface="DejaVu Sans"/>
              </a:defRPr>
            </a:pPr>
            <a:r>
              <a:t>Syntax checked; XCTest not 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233160"/>
            <a:ext cx="111252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Coverage-ի scope-երը տարբեր են․ թվերը միավորել կամ համեմատել որպես նույն չափում ճիշտ չէ։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Coverage • ուժեղ մասերը և բացերը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90700"/>
            <a:ext cx="7620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1F7FC"/>
                </a:solidFill>
                <a:latin typeface="DejaVu Sans"/>
              </a:defRPr>
            </a:pPr>
            <a:r>
              <a:t>Backend / protocol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32660"/>
            <a:ext cx="10058400" cy="18288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32660"/>
            <a:ext cx="9798893" cy="182880"/>
          </a:xfrm>
          <a:prstGeom prst="roundRect">
            <a:avLst>
              <a:gd name="adj" fmla="val 12000"/>
            </a:avLst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44200" y="2095499"/>
            <a:ext cx="1104900" cy="4191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4C7EE"/>
                </a:solidFill>
                <a:latin typeface="DejaVu Sans"/>
              </a:defRPr>
            </a:pPr>
            <a:r>
              <a:t>97.42%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7620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1F7FC"/>
                </a:solidFill>
                <a:latin typeface="DejaVu Sans"/>
              </a:defRPr>
            </a:pPr>
            <a:r>
              <a:t>Desktop complete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85160"/>
            <a:ext cx="10058400" cy="18288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185160"/>
            <a:ext cx="9066641" cy="182880"/>
          </a:xfrm>
          <a:prstGeom prst="roundRect">
            <a:avLst>
              <a:gd name="adj" fmla="val 12000"/>
            </a:avLst>
          </a:prstGeom>
          <a:solidFill>
            <a:srgbClr val="34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44200" y="3048000"/>
            <a:ext cx="1104900" cy="4191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4D4A0"/>
                </a:solidFill>
                <a:latin typeface="DejaVu Sans"/>
              </a:defRPr>
            </a:pPr>
            <a:r>
              <a:t>90.14%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95700"/>
            <a:ext cx="7620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1F7FC"/>
                </a:solidFill>
                <a:latin typeface="DejaVu Sans"/>
              </a:defRPr>
            </a:pPr>
            <a:r>
              <a:t>Desktop production 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37660"/>
            <a:ext cx="10058400" cy="18288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4137660"/>
            <a:ext cx="9162196" cy="182880"/>
          </a:xfrm>
          <a:prstGeom prst="roundRect">
            <a:avLst>
              <a:gd name="adj" fmla="val 12000"/>
            </a:avLst>
          </a:prstGeom>
          <a:solidFill>
            <a:srgbClr val="34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44200" y="4000500"/>
            <a:ext cx="1104900" cy="4191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4D4A0"/>
                </a:solidFill>
                <a:latin typeface="DejaVu Sans"/>
              </a:defRPr>
            </a:pPr>
            <a:r>
              <a:t>91.09%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48200"/>
            <a:ext cx="7620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1F7FC"/>
                </a:solidFill>
                <a:latin typeface="DejaVu Sans"/>
              </a:defRPr>
            </a:pPr>
            <a:r>
              <a:t>Android JVM lines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90160"/>
            <a:ext cx="10058400" cy="18288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5090160"/>
            <a:ext cx="3402756" cy="182880"/>
          </a:xfrm>
          <a:prstGeom prst="roundRect">
            <a:avLst>
              <a:gd name="adj" fmla="val 12000"/>
            </a:avLst>
          </a:prstGeom>
          <a:solidFill>
            <a:srgbClr val="EB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44200" y="4953000"/>
            <a:ext cx="1104900" cy="4191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BC15B"/>
                </a:solidFill>
                <a:latin typeface="DejaVu Sans"/>
              </a:defRPr>
            </a:pPr>
            <a:r>
              <a:t>33.83%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6073140"/>
            <a:ext cx="111252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Backend branches՝ 87.52%։ Android UI-ի ամբողջական coverage-ը դեռ պահանջում է emulator/device instrumentation։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Թեստերի իրական output • Desktop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st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80" y="1600200"/>
            <a:ext cx="777240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96400" y="182880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0" y="1828800"/>
            <a:ext cx="2133600" cy="557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5 անկախ test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0" y="2577084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2577084"/>
            <a:ext cx="2133600" cy="557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UI teardown՝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առանց crash-ի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6400" y="3325367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0" y="3325367"/>
            <a:ext cx="2133600" cy="557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90% շեմերը անցած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են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0" y="4073652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0" y="4073652"/>
            <a:ext cx="2133600" cy="557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JUnit + coverage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artifacts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073140"/>
            <a:ext cx="111252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Qt log viewer capture՝ ավարտված regression run-ի իրական log-ից։ Test count-ը նկարում պահպանված է բնօրինակից։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Իրական backend startup և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ackend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694" y="1714500"/>
            <a:ext cx="7090610" cy="39623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39200" y="1790700"/>
            <a:ext cx="2781300" cy="13716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22080" y="1943100"/>
            <a:ext cx="241554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4C7EE"/>
                </a:solidFill>
                <a:latin typeface="DejaVu Sans"/>
              </a:defRPr>
            </a:pPr>
            <a:r>
              <a:t>2.16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2080" y="2552700"/>
            <a:ext cx="2415540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7FC"/>
                </a:solidFill>
                <a:latin typeface="DejaVu Sans"/>
              </a:defRPr>
            </a:pPr>
            <a:r>
              <a:t>Startup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22080" y="2880360"/>
            <a:ext cx="2415540" cy="2057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Actual local launcher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39200" y="3390900"/>
            <a:ext cx="2781300" cy="13716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22080" y="3543300"/>
            <a:ext cx="241554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4D4A0"/>
                </a:solidFill>
                <a:latin typeface="DejaVu Sans"/>
              </a:defRPr>
            </a:pPr>
            <a:r>
              <a:t>2.32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2080" y="4152900"/>
            <a:ext cx="2415540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7FC"/>
                </a:solidFill>
                <a:latin typeface="DejaVu Sans"/>
              </a:defRPr>
            </a:pPr>
            <a:r>
              <a:t>Reasoning p95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2080" y="4480560"/>
            <a:ext cx="2415540" cy="2057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Budget: &lt; 90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073140"/>
            <a:ext cx="111252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Ստուգված են 369 մեքենայի կատալոգը, ախտորոշման ընթացքը և restart-ից հետո տվյալների պահպանումը։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iOS • իրականացվածը և ստուգման սահմանը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79070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790700"/>
            <a:ext cx="10515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Session ID-ն հեռացված է header-ից, պատմությունից և report export-ից։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4696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346960"/>
            <a:ext cx="105156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Թեստի սխալի դեպքում sheet-ն ու նշումները մնում են՝ կրկին ուղարկելու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համար։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22326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223260"/>
            <a:ext cx="105156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Swift Charts դիագրամներ, արդյունքների թարգմանություններ և ներքին ID-ի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privacy թեստ։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09956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099560"/>
            <a:ext cx="10515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7FC"/>
                </a:solidFill>
                <a:latin typeface="DejaVu Sans"/>
              </a:defRPr>
            </a:pPr>
            <a:r>
              <a:t>29 XCTest case սահմանված է․ 10 Swift ֆայլի syntax ստուգումն անցած է։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544830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5623560"/>
            <a:ext cx="105537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BC15B"/>
                </a:solidFill>
                <a:latin typeface="DejaVu Sans"/>
              </a:defRPr>
            </a:pPr>
            <a:r>
              <a:t>Xcode / simulator run և իրական iOS screenshot այս միջավայրում չկան։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Ուղղված խնդիրներ և անվտանգության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7680" y="1714500"/>
            <a:ext cx="11201400" cy="86868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0560" y="1920240"/>
            <a:ext cx="2095499" cy="4191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4C7EE"/>
                </a:solidFill>
                <a:latin typeface="DejaVu Sans"/>
              </a:defRPr>
            </a:pPr>
            <a:r>
              <a:t>Desktop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905000"/>
            <a:ext cx="8381999" cy="609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7FC"/>
                </a:solidFill>
                <a:latin typeface="DejaVu Sans"/>
              </a:defRPr>
            </a:pPr>
            <a:r>
              <a:t>Widget teardown crash → deferred deletion + clean process exit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2750820"/>
            <a:ext cx="11201400" cy="86868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60" y="2956560"/>
            <a:ext cx="2095499" cy="4191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4C7EE"/>
                </a:solidFill>
                <a:latin typeface="DejaVu Sans"/>
              </a:defRPr>
            </a:pPr>
            <a:r>
              <a:t>Android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941320"/>
            <a:ext cx="8381999" cy="609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7FC"/>
                </a:solidFill>
                <a:latin typeface="DejaVu Sans"/>
              </a:defRPr>
            </a:pPr>
            <a:r>
              <a:t>Bluetooth permission/cancellation → explicit failure + cleanup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680" y="3787140"/>
            <a:ext cx="11201400" cy="86868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560" y="3992879"/>
            <a:ext cx="2095499" cy="4191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4C7EE"/>
                </a:solidFill>
                <a:latin typeface="DejaVu Sans"/>
              </a:defRPr>
            </a:pPr>
            <a:r>
              <a:t>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977639"/>
            <a:ext cx="8381999" cy="609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7FC"/>
                </a:solidFill>
                <a:latin typeface="DejaVu Sans"/>
              </a:defRPr>
            </a:pPr>
            <a:r>
              <a:t>Failed result submission → retain notes and retry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7680" y="4823460"/>
            <a:ext cx="11201400" cy="86868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560" y="5029200"/>
            <a:ext cx="2095499" cy="4191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4C7EE"/>
                </a:solidFill>
                <a:latin typeface="DejaVu Sans"/>
              </a:defRPr>
            </a:pPr>
            <a:r>
              <a:t>Dependencies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5013960"/>
            <a:ext cx="8381999" cy="609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7FC"/>
                </a:solidFill>
                <a:latin typeface="DejaVu Sans"/>
              </a:defRPr>
            </a:pPr>
            <a:r>
              <a:t>Pillow 13.0.0 / pytest 9.1.1 → 0 known findings in 64 packages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073140"/>
            <a:ext cx="1112520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ED2"/>
                </a:solidFill>
                <a:latin typeface="DejaVu Sans"/>
              </a:defRPr>
            </a:pPr>
            <a:r>
              <a:t>Անվտանգության արդյունքը վերաբերում է չափված Python inventory-ին և audit-ի պահին հայտնի advisory-ներին։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Demo-ի սցենար և հաջորդ ստուգումները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714500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714500"/>
            <a:ext cx="10439400" cy="4137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1F7FC"/>
                </a:solidFill>
                <a:latin typeface="DejaVu Sans"/>
              </a:defRPr>
            </a:pPr>
            <a:r>
              <a:t>Ընտրել մեքենան → մուտքագրել ախտանշան և P0302։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18766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318766"/>
            <a:ext cx="10439400" cy="4137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1F7FC"/>
                </a:solidFill>
                <a:latin typeface="DejaVu Sans"/>
              </a:defRPr>
            </a:pPr>
            <a:r>
              <a:t>Գործարկել Analysis → բացել առաջարկվող թեստերը։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923032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923032"/>
            <a:ext cx="10439400" cy="4137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1F7FC"/>
                </a:solidFill>
                <a:latin typeface="DejaVu Sans"/>
              </a:defRPr>
            </a:pPr>
            <a:r>
              <a:t>Գրանցել արդյունքը → տեսնել նոր վարկածներն ու դիագրամը։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527298"/>
            <a:ext cx="190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C7EE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527298"/>
            <a:ext cx="10439400" cy="4137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1F7FC"/>
                </a:solidFill>
                <a:latin typeface="DejaVu Sans"/>
              </a:defRPr>
            </a:pPr>
            <a:r>
              <a:t>Բացել History / Report → հաստատել, որ Session ID-ն չի երևում։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4953000"/>
            <a:ext cx="10972800" cy="1028700"/>
          </a:xfrm>
          <a:prstGeom prst="roundRect">
            <a:avLst>
              <a:gd name="adj" fmla="val 12000"/>
            </a:avLst>
          </a:prstGeom>
          <a:solidFill>
            <a:srgbClr val="10283E"/>
          </a:solidFill>
          <a:ln>
            <a:solidFill>
              <a:srgbClr val="20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80" y="5090160"/>
            <a:ext cx="103632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4C7EE"/>
                </a:solidFill>
                <a:latin typeface="DejaVu Sans"/>
              </a:defRPr>
            </a:pPr>
            <a:r>
              <a:t>Հաջորդ validation քայլերը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80" y="5509260"/>
            <a:ext cx="10363200" cy="4952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iOS Xcode • Android connected coverage • PostgreSQL/pgvector • իրական OBD սարքեր •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Windows EXE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43840"/>
            <a:ext cx="11049000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C7EE"/>
                </a:solidFill>
                <a:latin typeface="DejaVu Sans"/>
              </a:defRPr>
            </a:pPr>
            <a:r>
              <a:t>PRODUCT / ENGINEERING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09600"/>
            <a:ext cx="111252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7FC"/>
                </a:solidFill>
                <a:latin typeface="DejaVu Sans"/>
              </a:defRPr>
            </a:pPr>
            <a:r>
              <a:t>Վերագործարկում և evidence աղբյուրներ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1386840"/>
            <a:ext cx="11201400" cy="22860"/>
          </a:xfrm>
          <a:prstGeom prst="rect">
            <a:avLst/>
          </a:prstGeom>
          <a:solidFill>
            <a:srgbClr val="34C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752600"/>
            <a:ext cx="10668000" cy="342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4C7EE"/>
                </a:solidFill>
                <a:latin typeface="DejaVu Sans"/>
              </a:defRPr>
            </a:pPr>
            <a:r>
              <a:t>finalbuild պանակից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01240"/>
            <a:ext cx="10896600" cy="1028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git pull --ff-only origin main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F7FC"/>
                </a:solidFill>
                <a:latin typeface="DejaVu Sans"/>
              </a:defRPr>
            </a:pPr>
            <a:r>
              <a:t>python -m pip install -r backend/requirements-dev.txt -r apps/desktop/requirements-dev.txt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657600"/>
            <a:ext cx="10668000" cy="342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4C7EE"/>
                </a:solidFill>
                <a:latin typeface="DejaVu Sans"/>
              </a:defRPr>
            </a:pPr>
            <a:r>
              <a:t>Android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175760"/>
            <a:ext cx="108966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7FC"/>
                </a:solidFill>
                <a:latin typeface="DejaVu Sans"/>
              </a:defRPr>
            </a:pPr>
            <a:r>
              <a:t>cd apps/mobile-android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7FC"/>
                </a:solidFill>
                <a:latin typeface="DejaVu Sans"/>
              </a:defRPr>
            </a:pPr>
            <a:r>
              <a:t>./gradlew :app:installDebug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372100"/>
            <a:ext cx="10896600" cy="647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8BED2"/>
                </a:solidFill>
                <a:latin typeface="DejaVu Sans"/>
              </a:defRPr>
            </a:pPr>
            <a:r>
              <a:t>docs/testing/full-qa-audit-2026-10-21.md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8BED2"/>
                </a:solidFill>
                <a:latin typeface="DejaVu Sans"/>
              </a:defRPr>
            </a:pPr>
            <a:r>
              <a:t>docs/demo/README.md • screenshots/ • evidence-summary.json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80" y="6568440"/>
            <a:ext cx="10287000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BED2"/>
                </a:solidFill>
                <a:latin typeface="DejaVu Sans"/>
              </a:defRPr>
            </a:pPr>
            <a:r>
              <a:t>AI CAR SCANNER • DEMO / QA • 22 OCT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600" y="6522720"/>
            <a:ext cx="4191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C7EE"/>
                </a:solidFill>
                <a:latin typeface="DejaVu San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CAR SCANNER — Demo &amp; QA Report</dc:title>
  <dc:subject>Session privacy, native UI, engineering and measured test evidence</dc:subject>
  <dc:creator>AI CAR SCANNER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hy-AM</dc:language>
</cp:coreProperties>
</file>